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9" r:id="rId2"/>
    <p:sldId id="270" r:id="rId3"/>
  </p:sldIdLst>
  <p:sldSz cx="9906000" cy="6858000" type="A4"/>
  <p:notesSz cx="10021888" cy="688975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7F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7AC3CCA-C797-4891-BE02-D94E43425B78}" styleName="Estilo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40" autoAdjust="0"/>
    <p:restoredTop sz="94660"/>
  </p:normalViewPr>
  <p:slideViewPr>
    <p:cSldViewPr snapToGrid="0">
      <p:cViewPr>
        <p:scale>
          <a:sx n="100" d="100"/>
          <a:sy n="100" d="100"/>
        </p:scale>
        <p:origin x="1596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12/09/2026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21206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12/09/2026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81103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12/09/2026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51234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12/09/2026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14087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12/09/2026</a:t>
            </a:fld>
            <a:endParaRPr lang="es-P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98054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12/09/2026</a:t>
            </a:fld>
            <a:endParaRPr lang="es-P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6706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12/09/2026</a:t>
            </a:fld>
            <a:endParaRPr lang="es-P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29901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12/09/2026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72246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12/09/2026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74844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12/09/2026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23442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12/09/2026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59059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5BCF65-E86E-467A-B19A-9BBB66F1E598}" type="datetimeFigureOut">
              <a:rPr lang="es-PE" smtClean="0"/>
              <a:t>12/09/2026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2210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especializacionvirtual.com/validar-certificado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35621-72CA-D763-3402-9EE6D4ECC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445A4FD1-A989-4A1B-171F-06544999BB31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312E5052-A7D2-5073-4120-67D9972BF22C}"/>
              </a:ext>
            </a:extLst>
          </p:cNvPr>
          <p:cNvSpPr>
            <a:spLocks noChangeAspect="1"/>
          </p:cNvSpPr>
          <p:nvPr/>
        </p:nvSpPr>
        <p:spPr>
          <a:xfrm>
            <a:off x="117000" y="81000"/>
            <a:ext cx="9672000" cy="6696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DDD35588-B0BE-750A-233E-F2089545AA88}"/>
              </a:ext>
            </a:extLst>
          </p:cNvPr>
          <p:cNvSpPr>
            <a:spLocks noChangeAspect="1"/>
          </p:cNvSpPr>
          <p:nvPr/>
        </p:nvSpPr>
        <p:spPr>
          <a:xfrm>
            <a:off x="247000" y="171000"/>
            <a:ext cx="9412000" cy="65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2856D83-1C79-E8F1-C546-A1EC8FE093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8489" y="957773"/>
            <a:ext cx="3551656" cy="4653126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D687948D-294D-CF5E-57A3-FA054968F0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846" y="311585"/>
            <a:ext cx="2957853" cy="758326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26CA7BF8-E20E-DBD5-4765-C1BBE02ABEE7}"/>
              </a:ext>
            </a:extLst>
          </p:cNvPr>
          <p:cNvSpPr txBox="1"/>
          <p:nvPr/>
        </p:nvSpPr>
        <p:spPr>
          <a:xfrm>
            <a:off x="3323024" y="775757"/>
            <a:ext cx="365677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4400" dirty="0">
                <a:latin typeface="Algerian" panose="04020705040A02060702" pitchFamily="82" charset="0"/>
              </a:rPr>
              <a:t>CERTIFICADO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D712B27-EF04-B191-0C57-7B731FF08A28}"/>
              </a:ext>
            </a:extLst>
          </p:cNvPr>
          <p:cNvSpPr txBox="1"/>
          <p:nvPr/>
        </p:nvSpPr>
        <p:spPr>
          <a:xfrm>
            <a:off x="4537572" y="1340914"/>
            <a:ext cx="1400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dirty="0">
                <a:latin typeface="Franklin Gothic Demi Cond" panose="020B0706030402020204" pitchFamily="34" charset="0"/>
              </a:rPr>
              <a:t>OTORGADO A: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A57A15D0-9DA2-A0D9-29DB-BB95A58BB560}"/>
              </a:ext>
            </a:extLst>
          </p:cNvPr>
          <p:cNvSpPr txBox="1"/>
          <p:nvPr/>
        </p:nvSpPr>
        <p:spPr>
          <a:xfrm>
            <a:off x="6902030" y="1009868"/>
            <a:ext cx="2419252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s-PE" sz="1000" dirty="0">
                <a:latin typeface="Arial Rounded MT Bold" panose="020F0704030504030204" pitchFamily="34" charset="0"/>
              </a:rPr>
              <a:t>INSTITUCIÓN EDUCATIVA</a:t>
            </a:r>
          </a:p>
          <a:p>
            <a:pPr algn="ctr"/>
            <a:r>
              <a:rPr lang="es-PE" sz="1000" dirty="0">
                <a:latin typeface="Arial Rounded MT Bold" panose="020F0704030504030204" pitchFamily="34" charset="0"/>
              </a:rPr>
              <a:t>ACADÉMICA Y SOCIAL BERLÍN SRL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19A9426-D4A0-E74B-942E-70EDB4E5A481}"/>
              </a:ext>
            </a:extLst>
          </p:cNvPr>
          <p:cNvSpPr txBox="1"/>
          <p:nvPr/>
        </p:nvSpPr>
        <p:spPr>
          <a:xfrm>
            <a:off x="1281361" y="1963913"/>
            <a:ext cx="8173338" cy="2523768"/>
          </a:xfrm>
          <a:prstGeom prst="rect">
            <a:avLst/>
          </a:prstGeom>
          <a:noFill/>
        </p:spPr>
        <p:txBody>
          <a:bodyPr wrap="square" rtlCol="0" anchor="t" anchorCtr="1">
            <a:spAutoFit/>
          </a:bodyPr>
          <a:lstStyle/>
          <a:p>
            <a:pPr algn="ctr"/>
            <a:r>
              <a:rPr lang="es-PE" b="1" dirty="0"/>
              <a:t>Por haber culminado satisfactoriamente el CURSO en:</a:t>
            </a:r>
            <a:endParaRPr lang="es-PE" sz="600" b="1" dirty="0"/>
          </a:p>
          <a:p>
            <a:pPr algn="ctr"/>
            <a:r>
              <a:rPr lang="es-PE" sz="2800" dirty="0">
                <a:latin typeface="Britannic Bold" panose="020B0903060703020204" pitchFamily="34" charset="0"/>
              </a:rPr>
              <a:t>“{{TEMA_DIPLOMADO}}”</a:t>
            </a:r>
          </a:p>
          <a:p>
            <a:pPr algn="ctr"/>
            <a:r>
              <a:rPr lang="es-PE" b="1" dirty="0"/>
              <a:t>Realizado del {{FECHA_INICIO}} al {{FECHA_FIN}}, con una</a:t>
            </a:r>
          </a:p>
          <a:p>
            <a:pPr algn="ctr"/>
            <a:r>
              <a:rPr lang="es-PE" b="1" dirty="0"/>
              <a:t>duración de {{HORAS_ACADEMICAS}} horas lectivas y {{CREDITOS_ACADEMICOS}} créditos Académicos.</a:t>
            </a:r>
          </a:p>
          <a:p>
            <a:pPr algn="ctr"/>
            <a:r>
              <a:rPr lang="es-PE" b="1" dirty="0"/>
              <a:t>Por tanto, se expide el presente Certificado, otorgándole los</a:t>
            </a:r>
          </a:p>
          <a:p>
            <a:pPr algn="ctr"/>
            <a:r>
              <a:rPr lang="es-PE" b="1" dirty="0"/>
              <a:t>privilegios y consideraciones que le corresponden.</a:t>
            </a:r>
          </a:p>
          <a:p>
            <a:pPr algn="ctr"/>
            <a:endParaRPr lang="es-PE" sz="400" b="1" dirty="0"/>
          </a:p>
          <a:p>
            <a:pPr algn="ctr"/>
            <a:r>
              <a:rPr lang="es-PE" b="1" dirty="0"/>
              <a:t>                                                                                       Trujillo, {{FECHA_EMISION_LARGA}}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00362E1B-A4E5-DC88-0390-73B34E4726FC}"/>
              </a:ext>
            </a:extLst>
          </p:cNvPr>
          <p:cNvSpPr/>
          <p:nvPr/>
        </p:nvSpPr>
        <p:spPr>
          <a:xfrm>
            <a:off x="804130" y="157397"/>
            <a:ext cx="477230" cy="652960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7A192F85-2C6B-B92B-C190-F4FA20EB515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7496" y="329532"/>
            <a:ext cx="2338940" cy="850524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E802D405-7755-D17A-C0CD-A45ACCBF5457}"/>
              </a:ext>
            </a:extLst>
          </p:cNvPr>
          <p:cNvSpPr txBox="1"/>
          <p:nvPr/>
        </p:nvSpPr>
        <p:spPr>
          <a:xfrm>
            <a:off x="1540910" y="1023782"/>
            <a:ext cx="18245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600" b="1" dirty="0"/>
              <a:t>Resolución </a:t>
            </a:r>
            <a:r>
              <a:rPr lang="es-PE" sz="1600" b="1" dirty="0" err="1"/>
              <a:t>N°</a:t>
            </a:r>
            <a:endParaRPr lang="es-PE" sz="1600" b="1" dirty="0"/>
          </a:p>
          <a:p>
            <a:r>
              <a:rPr lang="es-PE" sz="1600" b="1" dirty="0"/>
              <a:t>0013 2025 DRP LM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112DDF7-E4F2-F135-728A-3FA1C1101165}"/>
              </a:ext>
            </a:extLst>
          </p:cNvPr>
          <p:cNvSpPr txBox="1"/>
          <p:nvPr/>
        </p:nvSpPr>
        <p:spPr>
          <a:xfrm>
            <a:off x="2725953" y="1556955"/>
            <a:ext cx="49199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2800" dirty="0">
                <a:latin typeface="Britannic Bold" panose="020B0903060703020204" pitchFamily="34" charset="0"/>
              </a:rPr>
              <a:t>{{NOMBRES}} {{APELLIDOS}}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5D8C75F0-C54C-6710-D259-A640174D14BB}"/>
              </a:ext>
            </a:extLst>
          </p:cNvPr>
          <p:cNvSpPr txBox="1"/>
          <p:nvPr/>
        </p:nvSpPr>
        <p:spPr>
          <a:xfrm>
            <a:off x="6069743" y="6059895"/>
            <a:ext cx="2486579" cy="4231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1100" b="1" dirty="0">
                <a:latin typeface="Arial" panose="020B0604020202020204" pitchFamily="34" charset="0"/>
                <a:cs typeface="Arial" panose="020B0604020202020204" pitchFamily="34" charset="0"/>
              </a:rPr>
              <a:t>CHRISTIAAN QUIÑONES CARLOS</a:t>
            </a:r>
          </a:p>
          <a:p>
            <a:pPr algn="ctr"/>
            <a:r>
              <a:rPr lang="es-PE" sz="1000" dirty="0">
                <a:latin typeface="Arial" panose="020B0604020202020204" pitchFamily="34" charset="0"/>
                <a:cs typeface="Arial" panose="020B0604020202020204" pitchFamily="34" charset="0"/>
              </a:rPr>
              <a:t>DIRECTOR ACADÉMICO</a:t>
            </a:r>
          </a:p>
        </p:txBody>
      </p:sp>
      <p:cxnSp>
        <p:nvCxnSpPr>
          <p:cNvPr id="21" name="Conector recto 20"/>
          <p:cNvCxnSpPr/>
          <p:nvPr/>
        </p:nvCxnSpPr>
        <p:spPr>
          <a:xfrm>
            <a:off x="5760345" y="6054137"/>
            <a:ext cx="289455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CuadroTexto 21"/>
          <p:cNvSpPr txBox="1"/>
          <p:nvPr/>
        </p:nvSpPr>
        <p:spPr>
          <a:xfrm>
            <a:off x="2607818" y="6239140"/>
            <a:ext cx="180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000" dirty="0">
                <a:latin typeface="Arial" panose="020B0604020202020204" pitchFamily="34" charset="0"/>
                <a:cs typeface="Arial" panose="020B0604020202020204" pitchFamily="34" charset="0"/>
              </a:rPr>
              <a:t>DECANO REGIONAL</a:t>
            </a:r>
          </a:p>
        </p:txBody>
      </p:sp>
      <p:sp>
        <p:nvSpPr>
          <p:cNvPr id="25" name="CuadroTexto 24"/>
          <p:cNvSpPr txBox="1"/>
          <p:nvPr/>
        </p:nvSpPr>
        <p:spPr>
          <a:xfrm>
            <a:off x="2420935" y="6067741"/>
            <a:ext cx="217399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1100" b="1" dirty="0">
                <a:latin typeface="Arial" panose="020B0604020202020204" pitchFamily="34" charset="0"/>
                <a:cs typeface="Arial" panose="020B0604020202020204" pitchFamily="34" charset="0"/>
              </a:rPr>
              <a:t>HANNOWER VELA VASQUEZ</a:t>
            </a:r>
          </a:p>
        </p:txBody>
      </p:sp>
      <p:cxnSp>
        <p:nvCxnSpPr>
          <p:cNvPr id="28" name="Conector recto 27"/>
          <p:cNvCxnSpPr/>
          <p:nvPr/>
        </p:nvCxnSpPr>
        <p:spPr>
          <a:xfrm>
            <a:off x="2146218" y="6054137"/>
            <a:ext cx="289455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" name="Imagen 7">
            <a:extLst>
              <a:ext uri="{FF2B5EF4-FFF2-40B4-BE49-F238E27FC236}">
                <a16:creationId xmlns:a16="http://schemas.microsoft.com/office/drawing/2014/main" id="{FCC6A0A2-A49F-9156-0A87-7791B7293724}"/>
              </a:ext>
            </a:extLst>
          </p:cNvPr>
          <p:cNvPicPr/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47" t="18378" r="6602" b="24324"/>
          <a:stretch/>
        </p:blipFill>
        <p:spPr bwMode="auto">
          <a:xfrm>
            <a:off x="1816543" y="5536777"/>
            <a:ext cx="3200400" cy="100965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ABB9901E-CB60-D444-3B1C-E7041FC6184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46990"/>
          <a:stretch/>
        </p:blipFill>
        <p:spPr>
          <a:xfrm>
            <a:off x="5292874" y="5050014"/>
            <a:ext cx="3632406" cy="1550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163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4FB78-3242-3CD9-774F-A3241012F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ángulo 35">
            <a:extLst>
              <a:ext uri="{FF2B5EF4-FFF2-40B4-BE49-F238E27FC236}">
                <a16:creationId xmlns:a16="http://schemas.microsoft.com/office/drawing/2014/main" id="{F0B983CF-A7F1-A7BF-8BD0-52F02A1BB0DE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799033C6-37D0-6682-3013-98407CB0992F}"/>
              </a:ext>
            </a:extLst>
          </p:cNvPr>
          <p:cNvSpPr>
            <a:spLocks noChangeAspect="1"/>
          </p:cNvSpPr>
          <p:nvPr/>
        </p:nvSpPr>
        <p:spPr>
          <a:xfrm>
            <a:off x="117000" y="81000"/>
            <a:ext cx="9672000" cy="6696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DE30A7F7-93A9-386C-04AB-C8FC4B78AA8C}"/>
              </a:ext>
            </a:extLst>
          </p:cNvPr>
          <p:cNvSpPr>
            <a:spLocks noChangeAspect="1"/>
          </p:cNvSpPr>
          <p:nvPr/>
        </p:nvSpPr>
        <p:spPr>
          <a:xfrm>
            <a:off x="247000" y="171000"/>
            <a:ext cx="9412000" cy="65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628BDDF7-6C8E-5C0F-41C4-CB7A233E56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9027" y="957773"/>
            <a:ext cx="3413074" cy="4653126"/>
          </a:xfrm>
          <a:prstGeom prst="rect">
            <a:avLst/>
          </a:prstGeom>
        </p:spPr>
      </p:pic>
      <p:graphicFrame>
        <p:nvGraphicFramePr>
          <p:cNvPr id="24" name="Tabla 23">
            <a:extLst>
              <a:ext uri="{FF2B5EF4-FFF2-40B4-BE49-F238E27FC236}">
                <a16:creationId xmlns:a16="http://schemas.microsoft.com/office/drawing/2014/main" id="{9ED43BBA-F6D2-A2AD-1613-DA6841CCF636}"/>
              </a:ext>
            </a:extLst>
          </p:cNvPr>
          <p:cNvGraphicFramePr>
            <a:graphicFrameLocks noGrp="1"/>
          </p:cNvGraphicFramePr>
          <p:nvPr/>
        </p:nvGraphicFramePr>
        <p:xfrm>
          <a:off x="3400259" y="1539657"/>
          <a:ext cx="6187190" cy="43462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187190">
                  <a:extLst>
                    <a:ext uri="{9D8B030D-6E8A-4147-A177-3AD203B41FA5}">
                      <a16:colId xmlns:a16="http://schemas.microsoft.com/office/drawing/2014/main" val="335546556"/>
                    </a:ext>
                  </a:extLst>
                </a:gridCol>
              </a:tblGrid>
              <a:tr h="308522">
                <a:tc>
                  <a:txBody>
                    <a:bodyPr/>
                    <a:lstStyle/>
                    <a:p>
                      <a:pPr algn="ctr"/>
                      <a:r>
                        <a:rPr lang="es-PE" sz="1600" u="none" dirty="0"/>
                        <a:t>TEMARIO</a:t>
                      </a:r>
                      <a:endParaRPr lang="es-PE" sz="1600" u="none" baseline="0" dirty="0">
                        <a:latin typeface="Arial Black" panose="020B0A04020102020204" pitchFamily="34" charset="0"/>
                      </a:endParaRPr>
                    </a:p>
                  </a:txBody>
                  <a:tcPr marL="190782" marR="190782" marT="95391" marB="953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34874865"/>
                  </a:ext>
                </a:extLst>
              </a:tr>
            </a:tbl>
          </a:graphicData>
        </a:graphic>
      </p:graphicFrame>
      <p:graphicFrame>
        <p:nvGraphicFramePr>
          <p:cNvPr id="29" name="Tabla 28">
            <a:extLst>
              <a:ext uri="{FF2B5EF4-FFF2-40B4-BE49-F238E27FC236}">
                <a16:creationId xmlns:a16="http://schemas.microsoft.com/office/drawing/2014/main" id="{BA9A900D-139A-721B-672C-155CE66EBE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5533540"/>
              </p:ext>
            </p:extLst>
          </p:nvPr>
        </p:nvGraphicFramePr>
        <p:xfrm>
          <a:off x="3400260" y="1974652"/>
          <a:ext cx="6187190" cy="1492791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766630">
                  <a:extLst>
                    <a:ext uri="{9D8B030D-6E8A-4147-A177-3AD203B41FA5}">
                      <a16:colId xmlns:a16="http://schemas.microsoft.com/office/drawing/2014/main" val="3108834388"/>
                    </a:ext>
                  </a:extLst>
                </a:gridCol>
                <a:gridCol w="3420560">
                  <a:extLst>
                    <a:ext uri="{9D8B030D-6E8A-4147-A177-3AD203B41FA5}">
                      <a16:colId xmlns:a16="http://schemas.microsoft.com/office/drawing/2014/main" val="1484549653"/>
                    </a:ext>
                  </a:extLst>
                </a:gridCol>
              </a:tblGrid>
              <a:tr h="2695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PE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MÓDULO I</a:t>
                      </a:r>
                      <a:endParaRPr lang="en-US" sz="11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{{MODULO_1}}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180495"/>
                  </a:ext>
                </a:extLst>
              </a:tr>
              <a:tr h="2695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PE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MÓDULO II</a:t>
                      </a:r>
                      <a:endParaRPr 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{{MODULO_2}}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0852981"/>
                  </a:ext>
                </a:extLst>
              </a:tr>
              <a:tr h="40056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PE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MÓDULO III</a:t>
                      </a:r>
                      <a:endParaRPr 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{{MODULO_3}}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2501331"/>
                  </a:ext>
                </a:extLst>
              </a:tr>
              <a:tr h="29410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PE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MÓDULO IV</a:t>
                      </a:r>
                      <a:endParaRPr 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{{MODULO_4}}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1531471"/>
                  </a:ext>
                </a:extLst>
              </a:tr>
              <a:tr h="19761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PE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MÓDULO V</a:t>
                      </a:r>
                      <a:endParaRPr 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{{MODULO_5}}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4625614"/>
                  </a:ext>
                </a:extLst>
              </a:tr>
            </a:tbl>
          </a:graphicData>
        </a:graphic>
      </p:graphicFrame>
      <p:grpSp>
        <p:nvGrpSpPr>
          <p:cNvPr id="3" name="Grupo 2">
            <a:extLst>
              <a:ext uri="{FF2B5EF4-FFF2-40B4-BE49-F238E27FC236}">
                <a16:creationId xmlns:a16="http://schemas.microsoft.com/office/drawing/2014/main" id="{237D1F36-FA2A-95C8-6272-F3AAEA76F58F}"/>
              </a:ext>
            </a:extLst>
          </p:cNvPr>
          <p:cNvGrpSpPr/>
          <p:nvPr/>
        </p:nvGrpSpPr>
        <p:grpSpPr>
          <a:xfrm>
            <a:off x="772950" y="6108603"/>
            <a:ext cx="2297657" cy="437033"/>
            <a:chOff x="4281274" y="8807352"/>
            <a:chExt cx="2297657" cy="437033"/>
          </a:xfrm>
        </p:grpSpPr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93E35E4B-F6C0-83E7-E9DF-8A6723BDF14E}"/>
                </a:ext>
              </a:extLst>
            </p:cNvPr>
            <p:cNvSpPr/>
            <p:nvPr/>
          </p:nvSpPr>
          <p:spPr>
            <a:xfrm>
              <a:off x="4312624" y="8807352"/>
              <a:ext cx="2213928" cy="43703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5" name="CuadroTexto 4">
              <a:extLst>
                <a:ext uri="{FF2B5EF4-FFF2-40B4-BE49-F238E27FC236}">
                  <a16:creationId xmlns:a16="http://schemas.microsoft.com/office/drawing/2014/main" id="{8E971155-D29C-EB07-5854-E5D89002FC10}"/>
                </a:ext>
              </a:extLst>
            </p:cNvPr>
            <p:cNvSpPr txBox="1"/>
            <p:nvPr/>
          </p:nvSpPr>
          <p:spPr>
            <a:xfrm>
              <a:off x="4281274" y="8809560"/>
              <a:ext cx="2297657" cy="3924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650" b="1" dirty="0"/>
                <a:t>PARA POSTERIOR VERIFICACIÓN DE ESTE CERTIFICADO SE PUEDE REALIZAR INGRESANDO EL CÓDIGO DEL ESTUDIANTE EN: </a:t>
              </a:r>
              <a:r>
                <a:rPr lang="es-PE" sz="650" b="1" dirty="0">
                  <a:hlinkClick r:id="rId3"/>
                </a:rPr>
                <a:t>https://especializacionvirtual.com/validar-certificado/</a:t>
              </a:r>
              <a:r>
                <a:rPr lang="es-PE" sz="650" b="1" dirty="0"/>
                <a:t> </a:t>
              </a:r>
            </a:p>
          </p:txBody>
        </p:sp>
      </p:grpSp>
      <p:sp>
        <p:nvSpPr>
          <p:cNvPr id="7" name="Rectángulo 6">
            <a:extLst>
              <a:ext uri="{FF2B5EF4-FFF2-40B4-BE49-F238E27FC236}">
                <a16:creationId xmlns:a16="http://schemas.microsoft.com/office/drawing/2014/main" id="{9C3BFE25-34B1-8BF9-2351-D294EF105361}"/>
              </a:ext>
            </a:extLst>
          </p:cNvPr>
          <p:cNvSpPr/>
          <p:nvPr/>
        </p:nvSpPr>
        <p:spPr>
          <a:xfrm>
            <a:off x="846165" y="5727842"/>
            <a:ext cx="2130198" cy="366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spcBef>
                <a:spcPts val="59"/>
              </a:spcBef>
            </a:pPr>
            <a:r>
              <a:rPr lang="es-PE" sz="900" dirty="0">
                <a:solidFill>
                  <a:prstClr val="black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CÓDIGO ESTUDIANTE:</a:t>
            </a:r>
          </a:p>
          <a:p>
            <a:pPr algn="ctr">
              <a:spcBef>
                <a:spcPts val="59"/>
              </a:spcBef>
            </a:pPr>
            <a:r>
              <a:rPr lang="en-US" sz="800" b="1" dirty="0">
                <a:solidFill>
                  <a:prstClr val="black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{{CODE_STUDENT}}</a:t>
            </a:r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761C2AA9-7B43-3F3E-A4C8-42214C10CE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4858311"/>
              </p:ext>
            </p:extLst>
          </p:nvPr>
        </p:nvGraphicFramePr>
        <p:xfrm>
          <a:off x="389194" y="2243308"/>
          <a:ext cx="2916000" cy="1820685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953720">
                  <a:extLst>
                    <a:ext uri="{9D8B030D-6E8A-4147-A177-3AD203B41FA5}">
                      <a16:colId xmlns:a16="http://schemas.microsoft.com/office/drawing/2014/main" val="3956221826"/>
                    </a:ext>
                  </a:extLst>
                </a:gridCol>
                <a:gridCol w="1962280">
                  <a:extLst>
                    <a:ext uri="{9D8B030D-6E8A-4147-A177-3AD203B41FA5}">
                      <a16:colId xmlns:a16="http://schemas.microsoft.com/office/drawing/2014/main" val="3056520887"/>
                    </a:ext>
                  </a:extLst>
                </a:gridCol>
              </a:tblGrid>
              <a:tr h="364137">
                <a:tc gridSpan="2">
                  <a:txBody>
                    <a:bodyPr/>
                    <a:lstStyle/>
                    <a:p>
                      <a:pPr algn="ctr"/>
                      <a:r>
                        <a:rPr lang="es-PE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REGISTRO</a:t>
                      </a:r>
                    </a:p>
                  </a:txBody>
                  <a:tcPr marL="190782" marR="190782" marT="95391" marB="95391">
                    <a:solidFill>
                      <a:schemeClr val="bg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2817205"/>
                  </a:ext>
                </a:extLst>
              </a:tr>
              <a:tr h="364137">
                <a:tc>
                  <a:txBody>
                    <a:bodyPr/>
                    <a:lstStyle/>
                    <a:p>
                      <a:r>
                        <a:rPr lang="es-PE" sz="1100" dirty="0"/>
                        <a:t>LIBRO N°</a:t>
                      </a:r>
                    </a:p>
                  </a:txBody>
                  <a:tcPr marL="190782" marR="190782" marT="95391" marB="953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dirty="0"/>
                        <a:t>001</a:t>
                      </a: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2679814925"/>
                  </a:ext>
                </a:extLst>
              </a:tr>
              <a:tr h="364137">
                <a:tc>
                  <a:txBody>
                    <a:bodyPr/>
                    <a:lstStyle/>
                    <a:p>
                      <a:r>
                        <a:rPr lang="es-PE" sz="1100" dirty="0"/>
                        <a:t>FOLIO N°</a:t>
                      </a:r>
                    </a:p>
                  </a:txBody>
                  <a:tcPr marL="190782" marR="190782" marT="95391" marB="9539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050" dirty="0"/>
                        <a:t>{{FOLIO_NUMERO}} –</a:t>
                      </a:r>
                      <a:r>
                        <a:rPr lang="es-PE" sz="1050" baseline="0" dirty="0"/>
                        <a:t> PPE</a:t>
                      </a:r>
                      <a:endParaRPr lang="es-PE" sz="1050" dirty="0"/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4085477436"/>
                  </a:ext>
                </a:extLst>
              </a:tr>
              <a:tr h="364137">
                <a:tc>
                  <a:txBody>
                    <a:bodyPr/>
                    <a:lstStyle/>
                    <a:p>
                      <a:r>
                        <a:rPr lang="es-PE" sz="1100" dirty="0"/>
                        <a:t>FECHA</a:t>
                      </a:r>
                    </a:p>
                  </a:txBody>
                  <a:tcPr marL="190782" marR="190782" marT="95391" marB="9539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050" dirty="0"/>
                        <a:t>{{FECHA_EMISION_CORTA}}</a:t>
                      </a: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2592299900"/>
                  </a:ext>
                </a:extLst>
              </a:tr>
              <a:tr h="364137">
                <a:tc>
                  <a:txBody>
                    <a:bodyPr/>
                    <a:lstStyle/>
                    <a:p>
                      <a:r>
                        <a:rPr lang="es-PE" sz="1100" dirty="0"/>
                        <a:t>FIRMA</a:t>
                      </a:r>
                    </a:p>
                  </a:txBody>
                  <a:tcPr marL="190782" marR="190782" marT="95391" marB="95391"/>
                </a:tc>
                <a:tc>
                  <a:txBody>
                    <a:bodyPr/>
                    <a:lstStyle/>
                    <a:p>
                      <a:pPr algn="ctr"/>
                      <a:endParaRPr lang="es-PE" sz="1050" dirty="0"/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2297285177"/>
                  </a:ext>
                </a:extLst>
              </a:tr>
            </a:tbl>
          </a:graphicData>
        </a:graphic>
      </p:graphicFrame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5BC6770D-961E-5EC1-D6CC-C6412F068BA8}"/>
              </a:ext>
            </a:extLst>
          </p:cNvPr>
          <p:cNvGraphicFramePr>
            <a:graphicFrameLocks noGrp="1"/>
          </p:cNvGraphicFramePr>
          <p:nvPr/>
        </p:nvGraphicFramePr>
        <p:xfrm>
          <a:off x="389194" y="4241835"/>
          <a:ext cx="2916000" cy="3360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60911">
                  <a:extLst>
                    <a:ext uri="{9D8B030D-6E8A-4147-A177-3AD203B41FA5}">
                      <a16:colId xmlns:a16="http://schemas.microsoft.com/office/drawing/2014/main" val="2813972394"/>
                    </a:ext>
                  </a:extLst>
                </a:gridCol>
                <a:gridCol w="1055089">
                  <a:extLst>
                    <a:ext uri="{9D8B030D-6E8A-4147-A177-3AD203B41FA5}">
                      <a16:colId xmlns:a16="http://schemas.microsoft.com/office/drawing/2014/main" val="1981345291"/>
                    </a:ext>
                  </a:extLst>
                </a:gridCol>
              </a:tblGrid>
              <a:tr h="336094">
                <a:tc>
                  <a:txBody>
                    <a:bodyPr/>
                    <a:lstStyle/>
                    <a:p>
                      <a:r>
                        <a:rPr lang="es-PE" sz="1400" b="1" dirty="0"/>
                        <a:t> </a:t>
                      </a:r>
                      <a:r>
                        <a:rPr lang="es-PE" sz="1100" b="1" dirty="0"/>
                        <a:t>CALIFICACIÓN :</a:t>
                      </a:r>
                      <a:endParaRPr 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500" dirty="0"/>
                        <a:t>19</a:t>
                      </a:r>
                      <a:endParaRPr lang="en-US" sz="15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7351207"/>
                  </a:ext>
                </a:extLst>
              </a:tr>
            </a:tbl>
          </a:graphicData>
        </a:graphic>
      </p:graphicFrame>
      <p:sp>
        <p:nvSpPr>
          <p:cNvPr id="2" name="CuadroTexto 1">
            <a:extLst>
              <a:ext uri="{FF2B5EF4-FFF2-40B4-BE49-F238E27FC236}">
                <a16:creationId xmlns:a16="http://schemas.microsoft.com/office/drawing/2014/main" id="{BE6D12B0-AD70-3B07-764B-D17F996A3214}"/>
              </a:ext>
            </a:extLst>
          </p:cNvPr>
          <p:cNvSpPr txBox="1"/>
          <p:nvPr/>
        </p:nvSpPr>
        <p:spPr>
          <a:xfrm>
            <a:off x="583386" y="1023782"/>
            <a:ext cx="17780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600" b="1" dirty="0"/>
              <a:t>Resolución </a:t>
            </a:r>
            <a:r>
              <a:rPr lang="es-PE" sz="1600" b="1" dirty="0" err="1"/>
              <a:t>N°</a:t>
            </a:r>
            <a:r>
              <a:rPr lang="es-PE" sz="1600" b="1" dirty="0"/>
              <a:t> </a:t>
            </a:r>
          </a:p>
          <a:p>
            <a:r>
              <a:rPr lang="es-PE" sz="1600" b="1" dirty="0"/>
              <a:t>0013 2025 DRP LM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AC2D622E-99B0-5E69-616C-62E2AB49A5A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521" y="329532"/>
            <a:ext cx="2338940" cy="850524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76722B3F-089A-8C72-E960-9655A53EBE98}"/>
              </a:ext>
            </a:extLst>
          </p:cNvPr>
          <p:cNvSpPr txBox="1"/>
          <p:nvPr/>
        </p:nvSpPr>
        <p:spPr>
          <a:xfrm>
            <a:off x="3779282" y="611903"/>
            <a:ext cx="23474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2000" dirty="0">
                <a:latin typeface="Arial Rounded MT Bold" panose="020F0704030504030204" pitchFamily="34" charset="0"/>
              </a:rPr>
              <a:t>CERTIFICADO DE ESTUDIOS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D5B2FFBD-6153-F628-9ADC-434F4CD747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6846" y="311585"/>
            <a:ext cx="2957853" cy="758326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3F822870-D8E2-D2F7-6F10-883F0453060A}"/>
              </a:ext>
            </a:extLst>
          </p:cNvPr>
          <p:cNvSpPr txBox="1"/>
          <p:nvPr/>
        </p:nvSpPr>
        <p:spPr>
          <a:xfrm>
            <a:off x="6902030" y="1009868"/>
            <a:ext cx="2419252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s-PE" sz="1000" dirty="0">
                <a:latin typeface="Arial Rounded MT Bold" panose="020F0704030504030204" pitchFamily="34" charset="0"/>
              </a:rPr>
              <a:t>INSTITUCIÓN EDUCATIVA</a:t>
            </a:r>
          </a:p>
          <a:p>
            <a:pPr algn="ctr"/>
            <a:r>
              <a:rPr lang="es-PE" sz="1000" dirty="0">
                <a:latin typeface="Arial Rounded MT Bold" panose="020F0704030504030204" pitchFamily="34" charset="0"/>
              </a:rPr>
              <a:t>ACADÉMICA Y SOCIAL BERLÍN SRL</a:t>
            </a: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E65F7484-98A0-4A3E-4FF1-CF5434F300F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6974"/>
          <a:stretch/>
        </p:blipFill>
        <p:spPr>
          <a:xfrm>
            <a:off x="1486822" y="3733061"/>
            <a:ext cx="455266" cy="308814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6B010097-5CF9-6DA3-77D6-9D83934E0635}"/>
              </a:ext>
            </a:extLst>
          </p:cNvPr>
          <p:cNvSpPr txBox="1"/>
          <p:nvPr/>
        </p:nvSpPr>
        <p:spPr>
          <a:xfrm>
            <a:off x="1212419" y="4698744"/>
            <a:ext cx="1397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PE" dirty="0"/>
              <a:t>{{QR_CODE}}</a:t>
            </a:r>
          </a:p>
        </p:txBody>
      </p:sp>
    </p:spTree>
    <p:extLst>
      <p:ext uri="{BB962C8B-B14F-4D97-AF65-F5344CB8AC3E}">
        <p14:creationId xmlns:p14="http://schemas.microsoft.com/office/powerpoint/2010/main" val="150646155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40806</TotalTime>
  <Words>226</Words>
  <Application>Microsoft Office PowerPoint</Application>
  <PresentationFormat>A4 (210 x 297 mm)</PresentationFormat>
  <Paragraphs>49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12" baseType="lpstr">
      <vt:lpstr>Algerian</vt:lpstr>
      <vt:lpstr>Arial</vt:lpstr>
      <vt:lpstr>Arial Black</vt:lpstr>
      <vt:lpstr>Arial Rounded MT Bold</vt:lpstr>
      <vt:lpstr>Britannic Bold</vt:lpstr>
      <vt:lpstr>Calibri</vt:lpstr>
      <vt:lpstr>Calibri Light</vt:lpstr>
      <vt:lpstr>Franklin Gothic Demi Cond</vt:lpstr>
      <vt:lpstr>Times New Roman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 de Windows</dc:creator>
  <cp:lastModifiedBy>Benjamín de Jesús Cueva Niño de Guzmán</cp:lastModifiedBy>
  <cp:revision>483</cp:revision>
  <cp:lastPrinted>2025-10-06T22:25:57Z</cp:lastPrinted>
  <dcterms:created xsi:type="dcterms:W3CDTF">2021-04-21T14:50:50Z</dcterms:created>
  <dcterms:modified xsi:type="dcterms:W3CDTF">2026-09-12T12:45:27Z</dcterms:modified>
</cp:coreProperties>
</file>
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4"/>
  </p:notesMasterIdLst>
  <p:handoutMasterIdLst>
    <p:handoutMasterId r:id="rId5"/>
  </p:handoutMasterIdLst>
  <p:sldIdLst>
    <p:sldId id="338" r:id="rId2"/>
    <p:sldId id="339" r:id="rId3"/>
  </p:sldIdLst>
  <p:sldSz cx="6858000" cy="9906000" type="A4"/>
  <p:notesSz cx="6889750" cy="1002188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EBE3C0"/>
    <a:srgbClr val="787254"/>
    <a:srgbClr val="C4C4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9A4E6D-D5C9-4E9C-ABB8-48140FBEFAE2}" v="4" dt="2026-03-05T19:03:57.7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799B23B-EC83-4686-B30A-512413B5E67A}" styleName="Estilo claro 3 - Acent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Estilo claro 1 - Acento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Estilo claro 2 - Acento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505E3EF-67EA-436B-97B2-0124C06EBD24}" styleName="Estilo medio 4 - Énfasi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EB344D84-9AFB-497E-A393-DC336BA19D2E}" styleName="Estilo medio 3 - Énfasis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Estilo medio 3 - Énfasis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7AC3CCA-C797-4891-BE02-D94E43425B78}" styleName="Estilo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306799F8-075E-4A3A-A7F6-7FBC6576F1A4}" styleName="Estilo temático 2 - Énfasis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C7853C-536D-4A76-A0AE-DD22124D55A5}" styleName="Estilo temático 1 - Énfasis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27F97BB-C833-4FB7-BDE5-3F7075034690}" styleName="Estilo temático 2 - Énfasis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364" autoAdjust="0"/>
  </p:normalViewPr>
  <p:slideViewPr>
    <p:cSldViewPr snapToGrid="0">
      <p:cViewPr>
        <p:scale>
          <a:sx n="150" d="100"/>
          <a:sy n="150" d="100"/>
        </p:scale>
        <p:origin x="1590" y="-34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handoutMaster" Target="handoutMasters/handoutMaster1.xml"/><Relationship Id="rId10" Type="http://schemas.microsoft.com/office/2016/11/relationships/changesInfo" Target="changesInfos/changesInfo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jamín de Jesús Cueva Niño de Guzmán" userId="56da303013910523" providerId="LiveId" clId="{532B7A48-8887-4F62-9537-0BA1FAE83637}"/>
    <pc:docChg chg="custSel modSld">
      <pc:chgData name="Benjamín de Jesús Cueva Niño de Guzmán" userId="56da303013910523" providerId="LiveId" clId="{532B7A48-8887-4F62-9537-0BA1FAE83637}" dt="2026-03-05T19:03:57.793" v="37"/>
      <pc:docMkLst>
        <pc:docMk/>
      </pc:docMkLst>
      <pc:sldChg chg="addSp delSp modSp mod">
        <pc:chgData name="Benjamín de Jesús Cueva Niño de Guzmán" userId="56da303013910523" providerId="LiveId" clId="{532B7A48-8887-4F62-9537-0BA1FAE83637}" dt="2026-03-05T18:31:48.053" v="34" actId="1035"/>
        <pc:sldMkLst>
          <pc:docMk/>
          <pc:sldMk cId="3524957515" sldId="338"/>
        </pc:sldMkLst>
        <pc:spChg chg="del">
          <ac:chgData name="Benjamín de Jesús Cueva Niño de Guzmán" userId="56da303013910523" providerId="LiveId" clId="{532B7A48-8887-4F62-9537-0BA1FAE83637}" dt="2026-03-04T22:40:09.368" v="0" actId="478"/>
          <ac:spMkLst>
            <pc:docMk/>
            <pc:sldMk cId="3524957515" sldId="338"/>
            <ac:spMk id="2" creationId="{FEAA4293-5045-7AA5-190D-88DFB9E5E5EA}"/>
          </ac:spMkLst>
        </pc:spChg>
        <pc:spChg chg="add mod">
          <ac:chgData name="Benjamín de Jesús Cueva Niño de Guzmán" userId="56da303013910523" providerId="LiveId" clId="{532B7A48-8887-4F62-9537-0BA1FAE83637}" dt="2026-03-05T18:31:48.053" v="34" actId="1035"/>
          <ac:spMkLst>
            <pc:docMk/>
            <pc:sldMk cId="3524957515" sldId="338"/>
            <ac:spMk id="3" creationId="{E5308028-F4F8-F50F-D938-1E7AC5DD00D7}"/>
          </ac:spMkLst>
        </pc:spChg>
        <pc:spChg chg="add mod">
          <ac:chgData name="Benjamín de Jesús Cueva Niño de Guzmán" userId="56da303013910523" providerId="LiveId" clId="{532B7A48-8887-4F62-9537-0BA1FAE83637}" dt="2026-03-04T22:40:26.274" v="3"/>
          <ac:spMkLst>
            <pc:docMk/>
            <pc:sldMk cId="3524957515" sldId="338"/>
            <ac:spMk id="4" creationId="{BF0A1959-DD93-3848-F80B-ECA0861B65D5}"/>
          </ac:spMkLst>
        </pc:spChg>
        <pc:spChg chg="add mod">
          <ac:chgData name="Benjamín de Jesús Cueva Niño de Guzmán" userId="56da303013910523" providerId="LiveId" clId="{532B7A48-8887-4F62-9537-0BA1FAE83637}" dt="2026-03-04T22:40:26.274" v="3"/>
          <ac:spMkLst>
            <pc:docMk/>
            <pc:sldMk cId="3524957515" sldId="338"/>
            <ac:spMk id="7" creationId="{E31C008E-F69E-E4EC-A139-2D52A485323E}"/>
          </ac:spMkLst>
        </pc:spChg>
        <pc:spChg chg="add mod">
          <ac:chgData name="Benjamín de Jesús Cueva Niño de Guzmán" userId="56da303013910523" providerId="LiveId" clId="{532B7A48-8887-4F62-9537-0BA1FAE83637}" dt="2026-03-04T22:40:29.622" v="15" actId="20577"/>
          <ac:spMkLst>
            <pc:docMk/>
            <pc:sldMk cId="3524957515" sldId="338"/>
            <ac:spMk id="8" creationId="{B6BF96E8-B685-6D1B-4945-2183A2BFEF28}"/>
          </ac:spMkLst>
        </pc:spChg>
        <pc:spChg chg="del">
          <ac:chgData name="Benjamín de Jesús Cueva Niño de Guzmán" userId="56da303013910523" providerId="LiveId" clId="{532B7A48-8887-4F62-9537-0BA1FAE83637}" dt="2026-03-04T22:40:15.813" v="2" actId="478"/>
          <ac:spMkLst>
            <pc:docMk/>
            <pc:sldMk cId="3524957515" sldId="338"/>
            <ac:spMk id="15" creationId="{00000000-0000-0000-0000-000000000000}"/>
          </ac:spMkLst>
        </pc:spChg>
        <pc:spChg chg="del">
          <ac:chgData name="Benjamín de Jesús Cueva Niño de Guzmán" userId="56da303013910523" providerId="LiveId" clId="{532B7A48-8887-4F62-9537-0BA1FAE83637}" dt="2026-03-04T22:40:13.329" v="1" actId="478"/>
          <ac:spMkLst>
            <pc:docMk/>
            <pc:sldMk cId="3524957515" sldId="338"/>
            <ac:spMk id="16" creationId="{00000000-0000-0000-0000-000000000000}"/>
          </ac:spMkLst>
        </pc:spChg>
        <pc:spChg chg="del">
          <ac:chgData name="Benjamín de Jesús Cueva Niño de Guzmán" userId="56da303013910523" providerId="LiveId" clId="{532B7A48-8887-4F62-9537-0BA1FAE83637}" dt="2026-03-04T22:40:09.368" v="0" actId="478"/>
          <ac:spMkLst>
            <pc:docMk/>
            <pc:sldMk cId="3524957515" sldId="338"/>
            <ac:spMk id="18" creationId="{00000000-0000-0000-0000-000000000000}"/>
          </ac:spMkLst>
        </pc:spChg>
        <pc:spChg chg="del">
          <ac:chgData name="Benjamín de Jesús Cueva Niño de Guzmán" userId="56da303013910523" providerId="LiveId" clId="{532B7A48-8887-4F62-9537-0BA1FAE83637}" dt="2026-03-04T22:40:09.368" v="0" actId="478"/>
          <ac:spMkLst>
            <pc:docMk/>
            <pc:sldMk cId="3524957515" sldId="338"/>
            <ac:spMk id="20" creationId="{00000000-0000-0000-0000-000000000000}"/>
          </ac:spMkLst>
        </pc:spChg>
        <pc:spChg chg="del">
          <ac:chgData name="Benjamín de Jesús Cueva Niño de Guzmán" userId="56da303013910523" providerId="LiveId" clId="{532B7A48-8887-4F62-9537-0BA1FAE83637}" dt="2026-03-04T22:40:13.329" v="1" actId="478"/>
          <ac:spMkLst>
            <pc:docMk/>
            <pc:sldMk cId="3524957515" sldId="338"/>
            <ac:spMk id="31" creationId="{00000000-0000-0000-0000-000000000000}"/>
          </ac:spMkLst>
        </pc:spChg>
        <pc:spChg chg="del">
          <ac:chgData name="Benjamín de Jesús Cueva Niño de Guzmán" userId="56da303013910523" providerId="LiveId" clId="{532B7A48-8887-4F62-9537-0BA1FAE83637}" dt="2026-03-04T22:40:13.329" v="1" actId="478"/>
          <ac:spMkLst>
            <pc:docMk/>
            <pc:sldMk cId="3524957515" sldId="338"/>
            <ac:spMk id="33" creationId="{00000000-0000-0000-0000-000000000000}"/>
          </ac:spMkLst>
        </pc:spChg>
      </pc:sldChg>
      <pc:sldChg chg="addSp delSp modSp mod">
        <pc:chgData name="Benjamín de Jesús Cueva Niño de Guzmán" userId="56da303013910523" providerId="LiveId" clId="{532B7A48-8887-4F62-9537-0BA1FAE83637}" dt="2026-03-05T19:03:57.793" v="37"/>
        <pc:sldMkLst>
          <pc:docMk/>
          <pc:sldMk cId="2249577745" sldId="339"/>
        </pc:sldMkLst>
        <pc:spChg chg="del">
          <ac:chgData name="Benjamín de Jesús Cueva Niño de Guzmán" userId="56da303013910523" providerId="LiveId" clId="{532B7A48-8887-4F62-9537-0BA1FAE83637}" dt="2026-03-05T19:03:57.552" v="36" actId="478"/>
          <ac:spMkLst>
            <pc:docMk/>
            <pc:sldMk cId="2249577745" sldId="339"/>
            <ac:spMk id="7" creationId="{05C52596-06F9-34E5-BF0B-633F1D4E78A2}"/>
          </ac:spMkLst>
        </pc:spChg>
        <pc:spChg chg="add mod">
          <ac:chgData name="Benjamín de Jesús Cueva Niño de Guzmán" userId="56da303013910523" providerId="LiveId" clId="{532B7A48-8887-4F62-9537-0BA1FAE83637}" dt="2026-03-05T19:03:57.793" v="37"/>
          <ac:spMkLst>
            <pc:docMk/>
            <pc:sldMk cId="2249577745" sldId="339"/>
            <ac:spMk id="8" creationId="{B189EA9C-DEA9-BE89-112A-39BEF111B735}"/>
          </ac:spMkLst>
        </pc:spChg>
        <pc:spChg chg="mod">
          <ac:chgData name="Benjamín de Jesús Cueva Niño de Guzmán" userId="56da303013910523" providerId="LiveId" clId="{532B7A48-8887-4F62-9537-0BA1FAE83637}" dt="2026-03-04T23:03:24.206" v="31" actId="962"/>
          <ac:spMkLst>
            <pc:docMk/>
            <pc:sldMk cId="2249577745" sldId="339"/>
            <ac:spMk id="15" creationId="{00000000-0000-0000-0000-000000000000}"/>
          </ac:spMkLst>
        </pc:spChg>
        <pc:graphicFrameChg chg="modGraphic">
          <ac:chgData name="Benjamín de Jesús Cueva Niño de Guzmán" userId="56da303013910523" providerId="LiveId" clId="{532B7A48-8887-4F62-9537-0BA1FAE83637}" dt="2026-03-05T19:03:54.731" v="35"/>
          <ac:graphicFrameMkLst>
            <pc:docMk/>
            <pc:sldMk cId="2249577745" sldId="339"/>
            <ac:graphicFrameMk id="18" creationId="{00000000-0000-0000-0000-000000000000}"/>
          </ac:graphicFrameMkLst>
        </pc:graphicFrameChg>
        <pc:graphicFrameChg chg="mod modGraphic">
          <ac:chgData name="Benjamín de Jesús Cueva Niño de Guzmán" userId="56da303013910523" providerId="LiveId" clId="{532B7A48-8887-4F62-9537-0BA1FAE83637}" dt="2026-03-04T23:03:34.831" v="33" actId="255"/>
          <ac:graphicFrameMkLst>
            <pc:docMk/>
            <pc:sldMk cId="2249577745" sldId="339"/>
            <ac:graphicFrameMk id="20" creationId="{00000000-0000-0000-0000-000000000000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188" cy="501730"/>
          </a:xfrm>
          <a:prstGeom prst="rect">
            <a:avLst/>
          </a:prstGeom>
        </p:spPr>
        <p:txBody>
          <a:bodyPr vert="horz" lIns="91449" tIns="45725" rIns="91449" bIns="45725" rtlCol="0"/>
          <a:lstStyle>
            <a:lvl1pPr algn="l">
              <a:defRPr sz="1200"/>
            </a:lvl1pPr>
          </a:lstStyle>
          <a:p>
            <a:endParaRPr lang="es-PE" dirty="0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902974" y="0"/>
            <a:ext cx="2985188" cy="501730"/>
          </a:xfrm>
          <a:prstGeom prst="rect">
            <a:avLst/>
          </a:prstGeom>
        </p:spPr>
        <p:txBody>
          <a:bodyPr vert="horz" lIns="91449" tIns="45725" rIns="91449" bIns="45725" rtlCol="0"/>
          <a:lstStyle>
            <a:lvl1pPr algn="r">
              <a:defRPr sz="1200"/>
            </a:lvl1pPr>
          </a:lstStyle>
          <a:p>
            <a:fld id="{03C7FEFC-EB52-44D6-B3F1-2A7BB7FA4226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9520159"/>
            <a:ext cx="2985188" cy="501730"/>
          </a:xfrm>
          <a:prstGeom prst="rect">
            <a:avLst/>
          </a:prstGeom>
        </p:spPr>
        <p:txBody>
          <a:bodyPr vert="horz" lIns="91449" tIns="45725" rIns="91449" bIns="45725" rtlCol="0" anchor="b"/>
          <a:lstStyle>
            <a:lvl1pPr algn="l">
              <a:defRPr sz="1200"/>
            </a:lvl1pPr>
          </a:lstStyle>
          <a:p>
            <a:endParaRPr lang="es-PE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902974" y="9520159"/>
            <a:ext cx="2985188" cy="501730"/>
          </a:xfrm>
          <a:prstGeom prst="rect">
            <a:avLst/>
          </a:prstGeom>
        </p:spPr>
        <p:txBody>
          <a:bodyPr vert="horz" lIns="91449" tIns="45725" rIns="91449" bIns="45725" rtlCol="0" anchor="b"/>
          <a:lstStyle>
            <a:lvl1pPr algn="r">
              <a:defRPr sz="1200"/>
            </a:lvl1pPr>
          </a:lstStyle>
          <a:p>
            <a:fld id="{975F3604-6914-4367-AFE3-5D3ACF5B5B34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8550997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2985341" cy="503520"/>
          </a:xfrm>
          <a:prstGeom prst="rect">
            <a:avLst/>
          </a:prstGeom>
        </p:spPr>
        <p:txBody>
          <a:bodyPr vert="horz" lIns="91449" tIns="45725" rIns="91449" bIns="45725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902227" y="1"/>
            <a:ext cx="2986432" cy="503520"/>
          </a:xfrm>
          <a:prstGeom prst="rect">
            <a:avLst/>
          </a:prstGeom>
        </p:spPr>
        <p:txBody>
          <a:bodyPr vert="horz" lIns="91449" tIns="45725" rIns="91449" bIns="45725" rtlCol="0"/>
          <a:lstStyle>
            <a:lvl1pPr algn="r">
              <a:defRPr sz="1200"/>
            </a:lvl1pPr>
          </a:lstStyle>
          <a:p>
            <a:fld id="{64955E78-CBAA-441B-9163-D9CD5E983BDA}" type="datetimeFigureOut">
              <a:rPr lang="en-US" smtClean="0"/>
              <a:t>6/7/2026</a:t>
            </a:fld>
            <a:endParaRPr lang="en-U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273300" y="1250950"/>
            <a:ext cx="2343150" cy="3384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9" tIns="45725" rIns="91449" bIns="45725" rtlCol="0" anchor="ctr"/>
          <a:lstStyle/>
          <a:p>
            <a:endParaRPr lang="en-U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8760" y="4822701"/>
            <a:ext cx="5512237" cy="3947317"/>
          </a:xfrm>
          <a:prstGeom prst="rect">
            <a:avLst/>
          </a:prstGeom>
        </p:spPr>
        <p:txBody>
          <a:bodyPr vert="horz" lIns="91449" tIns="45725" rIns="91449" bIns="45725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2" y="9518369"/>
            <a:ext cx="2985341" cy="503520"/>
          </a:xfrm>
          <a:prstGeom prst="rect">
            <a:avLst/>
          </a:prstGeom>
        </p:spPr>
        <p:txBody>
          <a:bodyPr vert="horz" lIns="91449" tIns="45725" rIns="91449" bIns="45725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902227" y="9518369"/>
            <a:ext cx="2986432" cy="503520"/>
          </a:xfrm>
          <a:prstGeom prst="rect">
            <a:avLst/>
          </a:prstGeom>
        </p:spPr>
        <p:txBody>
          <a:bodyPr vert="horz" lIns="91449" tIns="45725" rIns="91449" bIns="45725" rtlCol="0" anchor="b"/>
          <a:lstStyle>
            <a:lvl1pPr algn="r">
              <a:defRPr sz="1200"/>
            </a:lvl1pPr>
          </a:lstStyle>
          <a:p>
            <a:fld id="{E0D3D27F-C54F-4092-8719-89D37DC397E2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467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2273300" y="1250950"/>
            <a:ext cx="2343150" cy="338455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D3D27F-C54F-4092-8719-89D37DC397E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08269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2273300" y="1250950"/>
            <a:ext cx="2343150" cy="338455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D3D27F-C54F-4092-8719-89D37DC397E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8858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83737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296688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015084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468179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23472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292136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888210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826788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82814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321886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923875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014840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microsoft.com/office/2007/relationships/hdphoto" Target="../media/hdphoto4.wdp"/><Relationship Id="rId3" Type="http://schemas.openxmlformats.org/officeDocument/2006/relationships/image" Target="../media/image1.png"/><Relationship Id="rId7" Type="http://schemas.microsoft.com/office/2007/relationships/hdphoto" Target="../media/hdphoto1.wdp"/><Relationship Id="rId12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microsoft.com/office/2007/relationships/hdphoto" Target="../media/hdphoto3.wdp"/><Relationship Id="rId5" Type="http://schemas.openxmlformats.org/officeDocument/2006/relationships/image" Target="../media/image3.png"/><Relationship Id="rId10" Type="http://schemas.openxmlformats.org/officeDocument/2006/relationships/image" Target="../media/image6.png"/><Relationship Id="rId4" Type="http://schemas.openxmlformats.org/officeDocument/2006/relationships/image" Target="../media/image2.png"/><Relationship Id="rId9" Type="http://schemas.microsoft.com/office/2007/relationships/hdphoto" Target="../media/hdphoto2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hyperlink" Target="https://especializacionvirtual.com/validar-certificado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3" cstate="print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4" t="2729" r="2197" b="2740"/>
          <a:stretch/>
        </p:blipFill>
        <p:spPr>
          <a:xfrm rot="5400000">
            <a:off x="-1524000" y="1524000"/>
            <a:ext cx="9906000" cy="6858000"/>
          </a:xfrm>
          <a:prstGeom prst="rect">
            <a:avLst/>
          </a:prstGeom>
        </p:spPr>
      </p:pic>
      <p:pic>
        <p:nvPicPr>
          <p:cNvPr id="27" name="Imagen 26"/>
          <p:cNvPicPr>
            <a:picLocks noChangeAspect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832"/>
          <a:stretch/>
        </p:blipFill>
        <p:spPr>
          <a:xfrm>
            <a:off x="38777" y="3814138"/>
            <a:ext cx="6780446" cy="4279537"/>
          </a:xfrm>
          <a:prstGeom prst="rect">
            <a:avLst/>
          </a:prstGeom>
        </p:spPr>
      </p:pic>
      <p:sp>
        <p:nvSpPr>
          <p:cNvPr id="6" name="CuadroTexto 5"/>
          <p:cNvSpPr txBox="1"/>
          <p:nvPr/>
        </p:nvSpPr>
        <p:spPr>
          <a:xfrm>
            <a:off x="1443520" y="1972940"/>
            <a:ext cx="39709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dirty="0">
                <a:latin typeface="Algerian" panose="04020705040A02060702" pitchFamily="82" charset="0"/>
              </a:rPr>
              <a:t>certificado</a:t>
            </a:r>
            <a:endParaRPr lang="es-PE" sz="4800" dirty="0">
              <a:latin typeface="Algerian" panose="04020705040A02060702" pitchFamily="82" charset="0"/>
            </a:endParaRPr>
          </a:p>
        </p:txBody>
      </p:sp>
      <p:sp>
        <p:nvSpPr>
          <p:cNvPr id="25" name="CuadroTexto 24"/>
          <p:cNvSpPr txBox="1"/>
          <p:nvPr/>
        </p:nvSpPr>
        <p:spPr>
          <a:xfrm>
            <a:off x="329871" y="450101"/>
            <a:ext cx="2642070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PE" sz="1100" dirty="0">
                <a:latin typeface="Arial Rounded MT Bold" panose="020F0704030504030204" pitchFamily="34" charset="0"/>
              </a:rPr>
              <a:t>INSTITUCIÓN EDUCATIVA</a:t>
            </a:r>
          </a:p>
          <a:p>
            <a:r>
              <a:rPr lang="es-PE" sz="1100" dirty="0">
                <a:latin typeface="Arial Rounded MT Bold" panose="020F0704030504030204" pitchFamily="34" charset="0"/>
              </a:rPr>
              <a:t>ACADÉMICA Y SOCIAL BERLÍN SRL</a:t>
            </a:r>
          </a:p>
        </p:txBody>
      </p:sp>
      <p:pic>
        <p:nvPicPr>
          <p:cNvPr id="32" name="Imagen 31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603" b="7308"/>
          <a:stretch/>
        </p:blipFill>
        <p:spPr>
          <a:xfrm>
            <a:off x="4014580" y="340371"/>
            <a:ext cx="2522188" cy="549493"/>
          </a:xfrm>
          <a:prstGeom prst="rect">
            <a:avLst/>
          </a:prstGeom>
        </p:spPr>
      </p:pic>
      <p:sp>
        <p:nvSpPr>
          <p:cNvPr id="17" name="CuadroTexto 16"/>
          <p:cNvSpPr txBox="1"/>
          <p:nvPr/>
        </p:nvSpPr>
        <p:spPr>
          <a:xfrm>
            <a:off x="119622" y="1280033"/>
            <a:ext cx="661875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2600" dirty="0">
                <a:latin typeface="Adobe Caslon Pro" panose="0205050205050A020403" pitchFamily="18" charset="0"/>
                <a:cs typeface="Arial" panose="020B0604020202020204" pitchFamily="34" charset="0"/>
              </a:rPr>
              <a:t>INSTITUTO PERUANO DE</a:t>
            </a:r>
          </a:p>
          <a:p>
            <a:pPr algn="ctr"/>
            <a:r>
              <a:rPr lang="es-PE" sz="2600" dirty="0">
                <a:latin typeface="Adobe Caslon Pro" panose="0205050205050A020403" pitchFamily="18" charset="0"/>
                <a:cs typeface="Arial" panose="020B0604020202020204" pitchFamily="34" charset="0"/>
              </a:rPr>
              <a:t>DIPLOMADOS Y ESPECIALIZACIONES</a:t>
            </a:r>
          </a:p>
        </p:txBody>
      </p:sp>
      <p:pic>
        <p:nvPicPr>
          <p:cNvPr id="19" name="Imagen 18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72549"/>
          <a:stretch/>
        </p:blipFill>
        <p:spPr>
          <a:xfrm>
            <a:off x="3122090" y="298476"/>
            <a:ext cx="767741" cy="746881"/>
          </a:xfrm>
          <a:prstGeom prst="rect">
            <a:avLst/>
          </a:prstGeom>
        </p:spPr>
      </p:pic>
      <p:sp>
        <p:nvSpPr>
          <p:cNvPr id="22" name="CuadroTexto 21"/>
          <p:cNvSpPr txBox="1"/>
          <p:nvPr/>
        </p:nvSpPr>
        <p:spPr>
          <a:xfrm>
            <a:off x="1638189" y="987541"/>
            <a:ext cx="35816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600" b="1" dirty="0"/>
              <a:t>Resolución Directoral N° 241-2020 - CAC</a:t>
            </a:r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7C89D495-CD38-6251-2221-DE67EFE296C6}"/>
              </a:ext>
            </a:extLst>
          </p:cNvPr>
          <p:cNvGrpSpPr/>
          <p:nvPr/>
        </p:nvGrpSpPr>
        <p:grpSpPr>
          <a:xfrm>
            <a:off x="553626" y="7739629"/>
            <a:ext cx="5878186" cy="1405822"/>
            <a:chOff x="553626" y="7739629"/>
            <a:chExt cx="5878186" cy="1405822"/>
          </a:xfrm>
        </p:grpSpPr>
        <p:pic>
          <p:nvPicPr>
            <p:cNvPr id="28" name="Imagen 27">
              <a:extLst>
                <a:ext uri="{FF2B5EF4-FFF2-40B4-BE49-F238E27FC236}">
                  <a16:creationId xmlns:a16="http://schemas.microsoft.com/office/drawing/2014/main" id="{AE59A517-B1C4-14F2-A02F-39B57ACD8DB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-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57" t="38503" r="16240" b="44354"/>
            <a:stretch/>
          </p:blipFill>
          <p:spPr>
            <a:xfrm>
              <a:off x="3810449" y="8404662"/>
              <a:ext cx="2316493" cy="498240"/>
            </a:xfrm>
            <a:prstGeom prst="rect">
              <a:avLst/>
            </a:prstGeom>
          </p:spPr>
        </p:pic>
        <p:pic>
          <p:nvPicPr>
            <p:cNvPr id="29" name="Imagen 28" descr="Texto&#10;&#10;El contenido generado por IA puede ser incorrecto.">
              <a:extLst>
                <a:ext uri="{FF2B5EF4-FFF2-40B4-BE49-F238E27FC236}">
                  <a16:creationId xmlns:a16="http://schemas.microsoft.com/office/drawing/2014/main" id="{458DF50B-A285-E667-0105-4ACD6278F92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rightnessContrast bright="-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156" t="70686" r="7859" b="3946"/>
            <a:stretch/>
          </p:blipFill>
          <p:spPr>
            <a:xfrm rot="192851">
              <a:off x="3287745" y="7739629"/>
              <a:ext cx="1362097" cy="1073975"/>
            </a:xfrm>
            <a:prstGeom prst="rect">
              <a:avLst/>
            </a:prstGeom>
          </p:spPr>
        </p:pic>
        <p:pic>
          <p:nvPicPr>
            <p:cNvPr id="30" name="Imagen 29" descr="Texto&#10;&#10;El contenido generado por IA puede ser incorrecto.">
              <a:extLst>
                <a:ext uri="{FF2B5EF4-FFF2-40B4-BE49-F238E27FC236}">
                  <a16:creationId xmlns:a16="http://schemas.microsoft.com/office/drawing/2014/main" id="{32E8F41A-7483-2ADB-7CAC-C5F510201E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829" t="72609" r="31412"/>
            <a:stretch/>
          </p:blipFill>
          <p:spPr>
            <a:xfrm>
              <a:off x="924159" y="8201810"/>
              <a:ext cx="2151252" cy="943641"/>
            </a:xfrm>
            <a:prstGeom prst="rect">
              <a:avLst/>
            </a:prstGeom>
          </p:spPr>
        </p:pic>
        <p:pic>
          <p:nvPicPr>
            <p:cNvPr id="34" name="Imagen 33" descr="Texto&#10;&#10;El contenido generado por IA puede ser incorrecto.">
              <a:extLst>
                <a:ext uri="{FF2B5EF4-FFF2-40B4-BE49-F238E27FC236}">
                  <a16:creationId xmlns:a16="http://schemas.microsoft.com/office/drawing/2014/main" id="{CEABF6AB-7668-D0C3-7E46-276F6C2BB5B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021" t="39925" r="10083" b="29961"/>
            <a:stretch/>
          </p:blipFill>
          <p:spPr>
            <a:xfrm>
              <a:off x="553626" y="7840980"/>
              <a:ext cx="1092294" cy="1094893"/>
            </a:xfrm>
            <a:prstGeom prst="rect">
              <a:avLst/>
            </a:prstGeom>
          </p:spPr>
        </p:pic>
        <p:sp>
          <p:nvSpPr>
            <p:cNvPr id="35" name="CuadroTexto 34">
              <a:extLst>
                <a:ext uri="{FF2B5EF4-FFF2-40B4-BE49-F238E27FC236}">
                  <a16:creationId xmlns:a16="http://schemas.microsoft.com/office/drawing/2014/main" id="{34CB0A58-E343-9562-CA1A-F65E2102D846}"/>
                </a:ext>
              </a:extLst>
            </p:cNvPr>
            <p:cNvSpPr txBox="1"/>
            <p:nvPr/>
          </p:nvSpPr>
          <p:spPr>
            <a:xfrm>
              <a:off x="3454714" y="8672070"/>
              <a:ext cx="297709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PE" sz="1200" dirty="0">
                  <a:latin typeface="Baskerville Old Face" panose="02020602080505020303" pitchFamily="18" charset="0"/>
                </a:rPr>
                <a:t>MARÍA AURORA CARLOS DE LA CRUZ</a:t>
              </a:r>
            </a:p>
            <a:p>
              <a:pPr algn="ctr"/>
              <a:r>
                <a:rPr lang="es-PE" sz="1200" dirty="0">
                  <a:latin typeface="Baskerville Old Face" panose="02020602080505020303" pitchFamily="18" charset="0"/>
                </a:rPr>
                <a:t>DIRECTORA ADMINISTRATIVA</a:t>
              </a:r>
            </a:p>
          </p:txBody>
        </p:sp>
        <p:sp>
          <p:nvSpPr>
            <p:cNvPr id="36" name="CuadroTexto 35">
              <a:extLst>
                <a:ext uri="{FF2B5EF4-FFF2-40B4-BE49-F238E27FC236}">
                  <a16:creationId xmlns:a16="http://schemas.microsoft.com/office/drawing/2014/main" id="{2758E9C3-376A-1223-12EE-B28B8197955B}"/>
                </a:ext>
              </a:extLst>
            </p:cNvPr>
            <p:cNvSpPr txBox="1"/>
            <p:nvPr/>
          </p:nvSpPr>
          <p:spPr>
            <a:xfrm>
              <a:off x="553626" y="8678984"/>
              <a:ext cx="265970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PE" sz="1200" dirty="0">
                  <a:latin typeface="Baskerville Old Face" panose="02020602080505020303" pitchFamily="18" charset="0"/>
                </a:rPr>
                <a:t>CHRISTIAAN QUIÑONES CARLOS</a:t>
              </a:r>
            </a:p>
            <a:p>
              <a:pPr algn="ctr"/>
              <a:r>
                <a:rPr lang="es-PE" sz="1200" dirty="0">
                  <a:latin typeface="Baskerville Old Face" panose="02020602080505020303" pitchFamily="18" charset="0"/>
                </a:rPr>
                <a:t>DIRECTOR ACADÉMICO</a:t>
              </a:r>
            </a:p>
          </p:txBody>
        </p:sp>
      </p:grpSp>
      <p:sp>
        <p:nvSpPr>
          <p:cNvPr id="3" name="PH_CONTENIDO_PRINCIPAL">
            <a:extLst>
              <a:ext uri="{FF2B5EF4-FFF2-40B4-BE49-F238E27FC236}">
                <a16:creationId xmlns:a16="http://schemas.microsoft.com/office/drawing/2014/main" id="{E5308028-F4F8-F50F-D938-1E7AC5DD00D7}"/>
              </a:ext>
            </a:extLst>
          </p:cNvPr>
          <p:cNvSpPr txBox="1"/>
          <p:nvPr/>
        </p:nvSpPr>
        <p:spPr>
          <a:xfrm>
            <a:off x="406666" y="4232834"/>
            <a:ext cx="6044668" cy="2431435"/>
          </a:xfrm>
          <a:prstGeom prst="rect">
            <a:avLst/>
          </a:prstGeom>
          <a:noFill/>
        </p:spPr>
        <p:txBody>
          <a:bodyPr wrap="square" rtlCol="0" anchor="t" anchorCtr="1">
            <a:spAutoFit/>
          </a:bodyPr>
          <a:lstStyle/>
          <a:p>
            <a:pPr algn="ctr"/>
            <a:r>
              <a:rPr lang="es-PE" sz="2700" dirty="0">
                <a:latin typeface="Baskerville Old Face" panose="02020602080505020303" pitchFamily="18" charset="0"/>
              </a:rPr>
              <a:t>“</a:t>
            </a:r>
            <a:r>
              <a:rPr lang="es-ES" sz="2800" dirty="0">
                <a:latin typeface="Baskerville Old Face" panose="02020602080505020303" pitchFamily="18" charset="0"/>
              </a:rPr>
              <a:t>{{TEMA_DIPLOMADO}}</a:t>
            </a:r>
            <a:r>
              <a:rPr lang="es-PE" sz="2800" dirty="0">
                <a:latin typeface="Baskerville Old Face" panose="02020602080505020303" pitchFamily="18" charset="0"/>
              </a:rPr>
              <a:t>”</a:t>
            </a:r>
          </a:p>
          <a:p>
            <a:pPr algn="ctr"/>
            <a:endParaRPr lang="es-PE" sz="400" dirty="0">
              <a:latin typeface="Baskerville Old Face" panose="02020602080505020303" pitchFamily="18" charset="0"/>
            </a:endParaRPr>
          </a:p>
          <a:p>
            <a:pPr algn="ctr"/>
            <a:r>
              <a:rPr lang="es-PE" sz="1600" dirty="0">
                <a:latin typeface="Baskerville Old Face" panose="02020602080505020303" pitchFamily="18" charset="0"/>
              </a:rPr>
              <a:t>Realizado del {{FECHA_INICIO}} al {{FECHA_FIN}}, </a:t>
            </a:r>
          </a:p>
          <a:p>
            <a:pPr algn="ctr"/>
            <a:r>
              <a:rPr lang="es-PE" sz="1600" dirty="0">
                <a:latin typeface="Baskerville Old Face" panose="02020602080505020303" pitchFamily="18" charset="0"/>
              </a:rPr>
              <a:t>con una duración de {{HORAS_ACADEMICAS}} horas lectivas y {{CREDITOS_ACADEMICOS}} créditos Académicos</a:t>
            </a:r>
            <a:r>
              <a:rPr lang="es-PE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ctr"/>
            <a:endParaRPr lang="es-PE" sz="4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s-PE" sz="1600" dirty="0">
                <a:latin typeface="Baskerville Old Face" panose="02020602080505020303" pitchFamily="18" charset="0"/>
              </a:rPr>
              <a:t>Por tanto, se expide el presente Certificado, otorgándole los privilegios y</a:t>
            </a:r>
            <a:br>
              <a:rPr lang="es-PE" sz="1600" dirty="0">
                <a:latin typeface="Baskerville Old Face" panose="02020602080505020303" pitchFamily="18" charset="0"/>
              </a:rPr>
            </a:br>
            <a:r>
              <a:rPr lang="es-PE" sz="1600" dirty="0">
                <a:latin typeface="Baskerville Old Face" panose="02020602080505020303" pitchFamily="18" charset="0"/>
              </a:rPr>
              <a:t>consideraciones que le corresponden.</a:t>
            </a:r>
          </a:p>
          <a:p>
            <a:pPr algn="ctr"/>
            <a:endParaRPr lang="es-PE" sz="400" dirty="0">
              <a:latin typeface="Baskerville Old Face" panose="02020602080505020303" pitchFamily="18" charset="0"/>
            </a:endParaRPr>
          </a:p>
          <a:p>
            <a:pPr algn="ctr"/>
            <a:r>
              <a:rPr lang="es-PE" sz="1600">
                <a:latin typeface="Baskerville Old Face" panose="02020602080505020303" pitchFamily="18" charset="0"/>
              </a:rPr>
              <a:t>                                                         {{</a:t>
            </a:r>
            <a:r>
              <a:rPr lang="es-PE" sz="1600" dirty="0">
                <a:latin typeface="Baskerville Old Face" panose="02020602080505020303" pitchFamily="18" charset="0"/>
              </a:rPr>
              <a:t>CIUDAD}}, {{FECHA_EMISION_LARGA}}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F0A1959-DD93-3848-F80B-ECA0861B65D5}"/>
              </a:ext>
            </a:extLst>
          </p:cNvPr>
          <p:cNvSpPr txBox="1"/>
          <p:nvPr/>
        </p:nvSpPr>
        <p:spPr>
          <a:xfrm>
            <a:off x="618878" y="2880014"/>
            <a:ext cx="56202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>
                <a:latin typeface="Baskerville Old Face" panose="02020602080505020303" pitchFamily="18" charset="0"/>
              </a:rPr>
              <a:t>{{NOMBRES}}</a:t>
            </a:r>
          </a:p>
          <a:p>
            <a:pPr algn="ctr"/>
            <a:r>
              <a:rPr lang="es-ES" sz="2800" dirty="0">
                <a:latin typeface="Baskerville Old Face" panose="02020602080505020303" pitchFamily="18" charset="0"/>
              </a:rPr>
              <a:t>{{APELLIDOS}}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31C008E-F69E-E4EC-A139-2D52A485323E}"/>
              </a:ext>
            </a:extLst>
          </p:cNvPr>
          <p:cNvSpPr txBox="1"/>
          <p:nvPr/>
        </p:nvSpPr>
        <p:spPr>
          <a:xfrm>
            <a:off x="2724320" y="2614054"/>
            <a:ext cx="14093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dirty="0"/>
              <a:t>Concedido a: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6BF96E8-B685-6D1B-4945-2183A2BFEF28}"/>
              </a:ext>
            </a:extLst>
          </p:cNvPr>
          <p:cNvSpPr txBox="1"/>
          <p:nvPr/>
        </p:nvSpPr>
        <p:spPr>
          <a:xfrm>
            <a:off x="1227918" y="3763987"/>
            <a:ext cx="44021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1600" dirty="0">
                <a:latin typeface="Baskerville Old Face" panose="02020602080505020303" pitchFamily="18" charset="0"/>
              </a:rPr>
              <a:t>Por haber culminado satisfactoriamente el CURSO </a:t>
            </a:r>
          </a:p>
          <a:p>
            <a:pPr algn="ctr"/>
            <a:r>
              <a:rPr lang="es-PE" sz="1600" dirty="0">
                <a:latin typeface="Baskerville Old Face" panose="02020602080505020303" pitchFamily="18" charset="0"/>
              </a:rPr>
              <a:t>DE CAPACITACIÓN en:</a:t>
            </a:r>
          </a:p>
        </p:txBody>
      </p:sp>
    </p:spTree>
    <p:extLst>
      <p:ext uri="{BB962C8B-B14F-4D97-AF65-F5344CB8AC3E}">
        <p14:creationId xmlns:p14="http://schemas.microsoft.com/office/powerpoint/2010/main" val="3524957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n 18">
            <a:extLst>
              <a:ext uri="{FF2B5EF4-FFF2-40B4-BE49-F238E27FC236}">
                <a16:creationId xmlns:a16="http://schemas.microsoft.com/office/drawing/2014/main" id="{D50F0563-12BD-90E0-3B17-8224A1FAF60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4" t="2729" r="2197" b="2740"/>
          <a:stretch/>
        </p:blipFill>
        <p:spPr>
          <a:xfrm rot="5400000">
            <a:off x="-1508311" y="1524001"/>
            <a:ext cx="9906000" cy="6857998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3" cstate="print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4" t="2729" r="2197" b="2740"/>
          <a:stretch/>
        </p:blipFill>
        <p:spPr>
          <a:xfrm rot="5400000">
            <a:off x="-1508311" y="1524001"/>
            <a:ext cx="9906000" cy="6857998"/>
          </a:xfrm>
          <a:prstGeom prst="rect">
            <a:avLst/>
          </a:prstGeom>
        </p:spPr>
      </p:pic>
      <p:pic>
        <p:nvPicPr>
          <p:cNvPr id="27" name="Imagen 26"/>
          <p:cNvPicPr>
            <a:picLocks noChangeAspect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65099" b="13443"/>
          <a:stretch/>
        </p:blipFill>
        <p:spPr>
          <a:xfrm>
            <a:off x="-46689" y="2693727"/>
            <a:ext cx="6951378" cy="4027616"/>
          </a:xfrm>
          <a:prstGeom prst="rect">
            <a:avLst/>
          </a:prstGeom>
        </p:spPr>
      </p:pic>
      <p:sp>
        <p:nvSpPr>
          <p:cNvPr id="12" name="CuadroTexto 11"/>
          <p:cNvSpPr txBox="1"/>
          <p:nvPr/>
        </p:nvSpPr>
        <p:spPr>
          <a:xfrm>
            <a:off x="119622" y="1230236"/>
            <a:ext cx="661875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2600" dirty="0">
                <a:latin typeface="Adobe Caslon Pro" panose="0205050205050A020403" pitchFamily="18" charset="0"/>
                <a:cs typeface="Arial" panose="020B0604020202020204" pitchFamily="34" charset="0"/>
              </a:rPr>
              <a:t>INSTITUTO PERUANO DE</a:t>
            </a:r>
          </a:p>
          <a:p>
            <a:pPr algn="ctr"/>
            <a:r>
              <a:rPr lang="es-PE" sz="2600" dirty="0">
                <a:latin typeface="Adobe Caslon Pro" panose="0205050205050A020403" pitchFamily="18" charset="0"/>
                <a:cs typeface="Arial" panose="020B0604020202020204" pitchFamily="34" charset="0"/>
              </a:rPr>
              <a:t>DIPLOMADOS Y ESPECIALIZACIONES</a:t>
            </a:r>
          </a:p>
        </p:txBody>
      </p:sp>
      <p:sp>
        <p:nvSpPr>
          <p:cNvPr id="11" name="CuadroTexto 10"/>
          <p:cNvSpPr txBox="1"/>
          <p:nvPr/>
        </p:nvSpPr>
        <p:spPr>
          <a:xfrm>
            <a:off x="329871" y="450101"/>
            <a:ext cx="2642070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PE" sz="1100" dirty="0">
                <a:latin typeface="Arial Rounded MT Bold" panose="020F0704030504030204" pitchFamily="34" charset="0"/>
              </a:rPr>
              <a:t>INSTITUCIÓN EDUCATIVA</a:t>
            </a:r>
          </a:p>
          <a:p>
            <a:r>
              <a:rPr lang="es-PE" sz="1100" dirty="0">
                <a:latin typeface="Arial Rounded MT Bold" panose="020F0704030504030204" pitchFamily="34" charset="0"/>
              </a:rPr>
              <a:t>ACADÉMICA Y SOCIAL BERLÍN SRL</a:t>
            </a:r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603" b="7308"/>
          <a:stretch/>
        </p:blipFill>
        <p:spPr>
          <a:xfrm>
            <a:off x="4014580" y="340371"/>
            <a:ext cx="2522188" cy="549493"/>
          </a:xfrm>
          <a:prstGeom prst="rect">
            <a:avLst/>
          </a:prstGeom>
        </p:spPr>
      </p:pic>
      <p:pic>
        <p:nvPicPr>
          <p:cNvPr id="16" name="Imagen 15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72549"/>
          <a:stretch/>
        </p:blipFill>
        <p:spPr>
          <a:xfrm>
            <a:off x="3122090" y="298476"/>
            <a:ext cx="767741" cy="746881"/>
          </a:xfrm>
          <a:prstGeom prst="rect">
            <a:avLst/>
          </a:prstGeom>
        </p:spPr>
      </p:pic>
      <p:sp>
        <p:nvSpPr>
          <p:cNvPr id="17" name="CuadroTexto 16"/>
          <p:cNvSpPr txBox="1"/>
          <p:nvPr/>
        </p:nvSpPr>
        <p:spPr>
          <a:xfrm>
            <a:off x="1638189" y="987541"/>
            <a:ext cx="35816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600" b="1" dirty="0"/>
              <a:t>Resolución Directoral N° 241-2020 - CAC</a:t>
            </a:r>
          </a:p>
        </p:txBody>
      </p:sp>
      <p:graphicFrame>
        <p:nvGraphicFramePr>
          <p:cNvPr id="18" name="Tabla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8192680"/>
              </p:ext>
            </p:extLst>
          </p:nvPr>
        </p:nvGraphicFramePr>
        <p:xfrm>
          <a:off x="611665" y="7771187"/>
          <a:ext cx="2268000" cy="195975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127460">
                  <a:extLst>
                    <a:ext uri="{9D8B030D-6E8A-4147-A177-3AD203B41FA5}">
                      <a16:colId xmlns:a16="http://schemas.microsoft.com/office/drawing/2014/main" val="3956221826"/>
                    </a:ext>
                  </a:extLst>
                </a:gridCol>
                <a:gridCol w="1140540">
                  <a:extLst>
                    <a:ext uri="{9D8B030D-6E8A-4147-A177-3AD203B41FA5}">
                      <a16:colId xmlns:a16="http://schemas.microsoft.com/office/drawing/2014/main" val="3056520887"/>
                    </a:ext>
                  </a:extLst>
                </a:gridCol>
              </a:tblGrid>
              <a:tr h="221673">
                <a:tc gridSpan="2">
                  <a:txBody>
                    <a:bodyPr/>
                    <a:lstStyle/>
                    <a:p>
                      <a:pPr algn="ctr"/>
                      <a:r>
                        <a:rPr lang="es-PE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REGISTRO</a:t>
                      </a:r>
                    </a:p>
                  </a:txBody>
                  <a:tcPr marL="190782" marR="190782" marT="95391" marB="95391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2817205"/>
                  </a:ext>
                </a:extLst>
              </a:tr>
              <a:tr h="221673">
                <a:tc gridSpan="2">
                  <a:txBody>
                    <a:bodyPr/>
                    <a:lstStyle/>
                    <a:p>
                      <a:r>
                        <a:rPr lang="es-PE" sz="1100" b="1" dirty="0"/>
                        <a:t>LIBRO N</a:t>
                      </a:r>
                      <a:r>
                        <a:rPr lang="es-PE" sz="1100" dirty="0"/>
                        <a:t>°</a:t>
                      </a:r>
                      <a:r>
                        <a:rPr lang="es-PE" sz="1100" baseline="0" dirty="0"/>
                        <a:t>            </a:t>
                      </a:r>
                      <a:r>
                        <a:rPr lang="es-PE" sz="1050" dirty="0"/>
                        <a:t>001</a:t>
                      </a:r>
                    </a:p>
                  </a:txBody>
                  <a:tcPr marL="190782" marR="190782" marT="95391" marB="95391"/>
                </a:tc>
                <a:tc hMerge="1">
                  <a:txBody>
                    <a:bodyPr/>
                    <a:lstStyle/>
                    <a:p>
                      <a:endParaRPr lang="es-PE" sz="1050" dirty="0"/>
                    </a:p>
                  </a:txBody>
                  <a:tcPr marL="190782" marR="190782" marT="95391" marB="95391"/>
                </a:tc>
                <a:extLst>
                  <a:ext uri="{0D108BD9-81ED-4DB2-BD59-A6C34878D82A}">
                    <a16:rowId xmlns:a16="http://schemas.microsoft.com/office/drawing/2014/main" val="2679814925"/>
                  </a:ext>
                </a:extLst>
              </a:tr>
              <a:tr h="221673">
                <a:tc gridSpan="2">
                  <a:txBody>
                    <a:bodyPr/>
                    <a:lstStyle/>
                    <a:p>
                      <a:r>
                        <a:rPr lang="es-PE" sz="1100" b="1" dirty="0"/>
                        <a:t>FOLIO </a:t>
                      </a:r>
                      <a:r>
                        <a:rPr lang="es-PE" sz="1100" b="1" dirty="0" err="1"/>
                        <a:t>N°</a:t>
                      </a:r>
                      <a:r>
                        <a:rPr lang="es-PE" sz="1100" b="1" dirty="0"/>
                        <a:t>  </a:t>
                      </a:r>
                      <a:r>
                        <a:rPr lang="es-PE" sz="1100" b="0" dirty="0"/>
                        <a:t>{{FOLIO_NUMERO}}</a:t>
                      </a:r>
                      <a:endParaRPr lang="es-PE" sz="1100" dirty="0"/>
                    </a:p>
                  </a:txBody>
                  <a:tcPr marL="190782" marR="190782" marT="95391" marB="95391"/>
                </a:tc>
                <a:tc hMerge="1">
                  <a:txBody>
                    <a:bodyPr/>
                    <a:lstStyle/>
                    <a:p>
                      <a:endParaRPr lang="es-PE" sz="1100" dirty="0"/>
                    </a:p>
                  </a:txBody>
                  <a:tcPr marL="190782" marR="190782" marT="95391" marB="95391"/>
                </a:tc>
                <a:extLst>
                  <a:ext uri="{0D108BD9-81ED-4DB2-BD59-A6C34878D82A}">
                    <a16:rowId xmlns:a16="http://schemas.microsoft.com/office/drawing/2014/main" val="4085477436"/>
                  </a:ext>
                </a:extLst>
              </a:tr>
              <a:tr h="221673">
                <a:tc gridSpan="2">
                  <a:txBody>
                    <a:bodyPr/>
                    <a:lstStyle/>
                    <a:p>
                      <a:r>
                        <a:rPr lang="es-PE" sz="1100" b="1" dirty="0"/>
                        <a:t>FECHA :         </a:t>
                      </a:r>
                      <a:r>
                        <a:rPr lang="es-PE" sz="1100" b="0" dirty="0"/>
                        <a:t>{{FECHA_EMISION_CORTA}}</a:t>
                      </a:r>
                    </a:p>
                  </a:txBody>
                  <a:tcPr marL="190782" marR="190782" marT="95391" marB="95391"/>
                </a:tc>
                <a:tc hMerge="1">
                  <a:txBody>
                    <a:bodyPr/>
                    <a:lstStyle/>
                    <a:p>
                      <a:endParaRPr lang="es-PE" sz="1100" dirty="0"/>
                    </a:p>
                  </a:txBody>
                  <a:tcPr marL="190782" marR="190782" marT="95391" marB="95391"/>
                </a:tc>
                <a:extLst>
                  <a:ext uri="{0D108BD9-81ED-4DB2-BD59-A6C34878D82A}">
                    <a16:rowId xmlns:a16="http://schemas.microsoft.com/office/drawing/2014/main" val="2592299900"/>
                  </a:ext>
                </a:extLst>
              </a:tr>
              <a:tr h="221673">
                <a:tc>
                  <a:txBody>
                    <a:bodyPr/>
                    <a:lstStyle/>
                    <a:p>
                      <a:r>
                        <a:rPr lang="es-PE" sz="1100" b="1" dirty="0"/>
                        <a:t>FIRMA    </a:t>
                      </a:r>
                    </a:p>
                  </a:txBody>
                  <a:tcPr marL="190782" marR="190782" marT="95391" marB="95391"/>
                </a:tc>
                <a:tc>
                  <a:txBody>
                    <a:bodyPr/>
                    <a:lstStyle/>
                    <a:p>
                      <a:endParaRPr lang="es-PE" sz="1100" dirty="0"/>
                    </a:p>
                  </a:txBody>
                  <a:tcPr marL="190782" marR="190782" marT="95391" marB="95391"/>
                </a:tc>
                <a:extLst>
                  <a:ext uri="{0D108BD9-81ED-4DB2-BD59-A6C34878D82A}">
                    <a16:rowId xmlns:a16="http://schemas.microsoft.com/office/drawing/2014/main" val="2297285177"/>
                  </a:ext>
                </a:extLst>
              </a:tr>
            </a:tbl>
          </a:graphicData>
        </a:graphic>
      </p:graphicFrame>
      <p:sp>
        <p:nvSpPr>
          <p:cNvPr id="15" name="PH_TEMA"/>
          <p:cNvSpPr/>
          <p:nvPr/>
        </p:nvSpPr>
        <p:spPr>
          <a:xfrm>
            <a:off x="668577" y="1997190"/>
            <a:ext cx="565154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CERTIFICADO DE ESTUDIOS</a:t>
            </a:r>
          </a:p>
          <a:p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PARTICIPANTE: </a:t>
            </a: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{{NOMBRE_COMPLETO_MINUSCULA}}</a:t>
            </a:r>
          </a:p>
          <a:p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CURSO DE CAPACITACIÓN: </a:t>
            </a: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{{TEMA_DIPLOMADO}}</a:t>
            </a:r>
            <a:endParaRPr lang="es-PE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0" name="PH_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0559136"/>
              </p:ext>
            </p:extLst>
          </p:nvPr>
        </p:nvGraphicFramePr>
        <p:xfrm>
          <a:off x="745017" y="2820978"/>
          <a:ext cx="5367967" cy="404085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49715">
                  <a:extLst>
                    <a:ext uri="{9D8B030D-6E8A-4147-A177-3AD203B41FA5}">
                      <a16:colId xmlns:a16="http://schemas.microsoft.com/office/drawing/2014/main" val="1484549653"/>
                    </a:ext>
                  </a:extLst>
                </a:gridCol>
                <a:gridCol w="2678906">
                  <a:extLst>
                    <a:ext uri="{9D8B030D-6E8A-4147-A177-3AD203B41FA5}">
                      <a16:colId xmlns:a16="http://schemas.microsoft.com/office/drawing/2014/main" val="1352610699"/>
                    </a:ext>
                  </a:extLst>
                </a:gridCol>
                <a:gridCol w="1239346">
                  <a:extLst>
                    <a:ext uri="{9D8B030D-6E8A-4147-A177-3AD203B41FA5}">
                      <a16:colId xmlns:a16="http://schemas.microsoft.com/office/drawing/2014/main" val="3793606720"/>
                    </a:ext>
                  </a:extLst>
                </a:gridCol>
              </a:tblGrid>
              <a:tr h="391369"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/>
                        <a:t>MÓDULO</a:t>
                      </a:r>
                      <a:endParaRPr lang="en-US" sz="1100" b="0" kern="12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/>
                        <a:t>TEMAS</a:t>
                      </a:r>
                      <a:endParaRPr lang="en-US" sz="1100" b="0" kern="12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/>
                        <a:t>HORAS ACADÉMICAS</a:t>
                      </a:r>
                      <a:endParaRPr lang="en-US" sz="1100" b="0" kern="12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635017"/>
                  </a:ext>
                </a:extLst>
              </a:tr>
              <a:tr h="298524"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/>
                        <a:t>MÓDULO I</a:t>
                      </a:r>
                      <a:endParaRPr lang="en-US" sz="11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50" b="0" dirty="0">
                          <a:solidFill>
                            <a:schemeClr val="tx1"/>
                          </a:solidFill>
                        </a:rPr>
                        <a:t>{{MODULO_1}}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{{HORAS_MODULO}}</a:t>
                      </a: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200180495"/>
                  </a:ext>
                </a:extLst>
              </a:tr>
              <a:tr h="328235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/>
                        <a:t>MÓDULO II</a:t>
                      </a:r>
                      <a:endParaRPr lang="en-US" sz="11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50" b="0" dirty="0"/>
                        <a:t>{{MODULO_2}}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{{HORAS_MODULO}}</a:t>
                      </a:r>
                      <a:endParaRPr lang="en-US" sz="11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606037612"/>
                  </a:ext>
                </a:extLst>
              </a:tr>
              <a:tr h="266651"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/>
                        <a:t>MÓDULO III</a:t>
                      </a:r>
                      <a:endParaRPr lang="en-US" sz="11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50" b="0" dirty="0"/>
                        <a:t>{{MODULO_3}}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1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{{HORAS_MODULO}}</a:t>
                      </a:r>
                      <a:endParaRPr lang="es-ES" sz="11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30135391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/>
                        <a:t>MÓDULO IV</a:t>
                      </a:r>
                      <a:endParaRPr lang="en-US" sz="11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50" b="0" dirty="0"/>
                        <a:t>{{MODULO_4}}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{{HORAS_MODULO}}</a:t>
                      </a:r>
                      <a:endParaRPr lang="en-US" sz="11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29239132"/>
                  </a:ext>
                </a:extLst>
              </a:tr>
              <a:tr h="298524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/>
                        <a:t>MÓDULO V</a:t>
                      </a:r>
                      <a:endParaRPr lang="en-US" sz="11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50" b="0" dirty="0"/>
                        <a:t>{{MODULO_5}}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{{HORAS_MODULO}}</a:t>
                      </a:r>
                      <a:endParaRPr lang="en-US" sz="11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311424302"/>
                  </a:ext>
                </a:extLst>
              </a:tr>
              <a:tr h="266651">
                <a:tc gridSpan="2"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HORAS TOTALES</a:t>
                      </a:r>
                      <a:endParaRPr lang="en-US" sz="11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419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{{HORAS_ACADEMICAS}}</a:t>
                      </a:r>
                      <a:endParaRPr lang="en-US" sz="11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712995416"/>
                  </a:ext>
                </a:extLst>
              </a:tr>
              <a:tr h="266651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CALIFICACIÓN</a:t>
                      </a:r>
                      <a:endParaRPr lang="en-US" sz="11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" sz="1100" b="0" dirty="0"/>
                        <a:t>18</a:t>
                      </a:r>
                      <a:endParaRPr lang="en-US" sz="1100" b="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1607830913"/>
                  </a:ext>
                </a:extLst>
              </a:tr>
            </a:tbl>
          </a:graphicData>
        </a:graphic>
      </p:graphicFrame>
      <p:pic>
        <p:nvPicPr>
          <p:cNvPr id="25" name="Imagen 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1854" y="9269478"/>
            <a:ext cx="472669" cy="260450"/>
          </a:xfrm>
          <a:prstGeom prst="rect">
            <a:avLst/>
          </a:prstGeom>
        </p:spPr>
      </p:pic>
      <p:grpSp>
        <p:nvGrpSpPr>
          <p:cNvPr id="3" name="Grupo 2">
            <a:extLst>
              <a:ext uri="{FF2B5EF4-FFF2-40B4-BE49-F238E27FC236}">
                <a16:creationId xmlns:a16="http://schemas.microsoft.com/office/drawing/2014/main" id="{60558B68-70D0-533D-ACB6-95A93DBA346B}"/>
              </a:ext>
            </a:extLst>
          </p:cNvPr>
          <p:cNvGrpSpPr/>
          <p:nvPr/>
        </p:nvGrpSpPr>
        <p:grpSpPr>
          <a:xfrm>
            <a:off x="4281274" y="9051192"/>
            <a:ext cx="2297657" cy="437033"/>
            <a:chOff x="4281274" y="8807352"/>
            <a:chExt cx="2297657" cy="437033"/>
          </a:xfrm>
        </p:grpSpPr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CA5596CF-F761-A35F-CC3E-178CA6905486}"/>
                </a:ext>
              </a:extLst>
            </p:cNvPr>
            <p:cNvSpPr/>
            <p:nvPr/>
          </p:nvSpPr>
          <p:spPr>
            <a:xfrm>
              <a:off x="4312624" y="8807352"/>
              <a:ext cx="2213928" cy="43703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22E1090C-0AA3-EE2A-DAA5-C7FFE6A65491}"/>
                </a:ext>
              </a:extLst>
            </p:cNvPr>
            <p:cNvSpPr txBox="1"/>
            <p:nvPr/>
          </p:nvSpPr>
          <p:spPr>
            <a:xfrm>
              <a:off x="4281274" y="8809560"/>
              <a:ext cx="2297657" cy="3924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650" b="1" dirty="0"/>
                <a:t>PARA POSTERIOR VERIFICACIÓN DE ESTE CERTIFICADO SE PUEDE REALIZAR INGRESANDO EL CÓDIGO DEL ESTUDIANTE EN: </a:t>
              </a:r>
              <a:r>
                <a:rPr lang="es-PE" sz="650" b="1" dirty="0">
                  <a:hlinkClick r:id="rId7"/>
                </a:rPr>
                <a:t>https://especializacionvirtual.com/validar-certificado/</a:t>
              </a:r>
              <a:r>
                <a:rPr lang="es-PE" sz="650" b="1" dirty="0"/>
                <a:t> </a:t>
              </a:r>
            </a:p>
          </p:txBody>
        </p:sp>
      </p:grpSp>
      <p:sp>
        <p:nvSpPr>
          <p:cNvPr id="2" name="CuadroTexto 1">
            <a:extLst>
              <a:ext uri="{FF2B5EF4-FFF2-40B4-BE49-F238E27FC236}">
                <a16:creationId xmlns:a16="http://schemas.microsoft.com/office/drawing/2014/main" id="{591BBE3D-709B-8EE3-767C-724858996A54}"/>
              </a:ext>
            </a:extLst>
          </p:cNvPr>
          <p:cNvSpPr txBox="1"/>
          <p:nvPr/>
        </p:nvSpPr>
        <p:spPr>
          <a:xfrm>
            <a:off x="3011233" y="7908810"/>
            <a:ext cx="1397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/>
              <a:t>{{QR_CODE}}</a:t>
            </a:r>
            <a:endParaRPr lang="es-PE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189EA9C-DEA9-BE89-112A-39BEF111B735}"/>
              </a:ext>
            </a:extLst>
          </p:cNvPr>
          <p:cNvSpPr/>
          <p:nvPr/>
        </p:nvSpPr>
        <p:spPr>
          <a:xfrm>
            <a:off x="4541929" y="8673847"/>
            <a:ext cx="2130198" cy="3821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spcBef>
                <a:spcPts val="59"/>
              </a:spcBef>
            </a:pPr>
            <a:r>
              <a:rPr lang="es-PE" sz="900" dirty="0">
                <a:solidFill>
                  <a:prstClr val="black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CÓDIGO ESTUDIANTE:</a:t>
            </a:r>
          </a:p>
          <a:p>
            <a:pPr lvl="0" algn="ctr">
              <a:spcBef>
                <a:spcPts val="59"/>
              </a:spcBef>
            </a:pPr>
            <a:r>
              <a:rPr lang="es-PE" sz="900" b="1">
                <a:solidFill>
                  <a:prstClr val="black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{{CODE_STUDENT}}</a:t>
            </a:r>
            <a:endParaRPr lang="es-PE" sz="900" b="1" dirty="0">
              <a:solidFill>
                <a:prstClr val="black"/>
              </a:solidFill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957774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131177</TotalTime>
  <Words>299</Words>
  <Application>Microsoft Office PowerPoint</Application>
  <PresentationFormat>A4 (210 x 297 mm)</PresentationFormat>
  <Paragraphs>64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12" baseType="lpstr">
      <vt:lpstr>Adobe Caslon Pro</vt:lpstr>
      <vt:lpstr>Algerian</vt:lpstr>
      <vt:lpstr>Arial</vt:lpstr>
      <vt:lpstr>Arial Rounded MT Bold</vt:lpstr>
      <vt:lpstr>Bahnschrift</vt:lpstr>
      <vt:lpstr>Baskerville Old Face</vt:lpstr>
      <vt:lpstr>Calibri</vt:lpstr>
      <vt:lpstr>Calibri Light</vt:lpstr>
      <vt:lpstr>Times New Roman</vt:lpstr>
      <vt:lpstr>Tema de Office</vt:lpstr>
      <vt:lpstr>Presentación de PowerPoint</vt:lpstr>
      <vt:lpstr>Presentación de PowerPoint</vt:lpstr>
    </vt:vector>
  </TitlesOfParts>
  <Company>Educa Perú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Educa Peru</dc:creator>
  <cp:lastModifiedBy>Benjamín de Jesús Cueva Niño de Guzmán</cp:lastModifiedBy>
  <cp:revision>1127</cp:revision>
  <cp:lastPrinted>2025-12-24T18:39:42Z</cp:lastPrinted>
  <dcterms:created xsi:type="dcterms:W3CDTF">2018-11-06T14:43:46Z</dcterms:created>
  <dcterms:modified xsi:type="dcterms:W3CDTF">2026-06-08T04:19:59Z</dcterms:modified>
</cp:coreProperties>
</file>